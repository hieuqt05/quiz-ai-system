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05840"/>
            <a:ext cx="9997135" cy="48463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280160"/>
            <a:ext cx="9265615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BÁO CÁO GIỮA KỲ • MÔN LẬP TRÌNH MẠNG</a:t>
            </a:r>
          </a:p>
          <a:p>
            <a:pPr algn="ctr">
              <a:spcAft>
                <a:spcPts val="160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QuizAI – Hệ Thống Trắc Nghiệm Online</a:t>
            </a:r>
            <a:br/>
            <a:r>
              <a:t>Tích Hợp Trí Tuệ Nhân Tạo</a:t>
            </a:r>
          </a:p>
          <a:p>
            <a:pPr algn="ctr">
              <a:spcAft>
                <a:spcPts val="28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Ứng dụng mô hình Client-Server • Giao thức TCP/IP • Chuẩn RESTful API • Cơ chế bảo mật HTTPS/TLS &amp; Xác thực JWT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3931920"/>
            <a:ext cx="3840480" cy="13716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40280" y="4114800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Giảng Viên Hướng Dẫn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4434840"/>
            <a:ext cx="33832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Segoe UI"/>
              </a:defRPr>
            </a:pPr>
            <a:r>
              <a:t>Giảng viên bộ môn Lập Trình Mạng</a:t>
            </a:r>
            <a:br/>
            <a:r>
              <a:t>Khoa Công Nghệ Thông Tin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931920"/>
            <a:ext cx="3840480" cy="13716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4114800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818CF8"/>
                </a:solidFill>
                <a:latin typeface="Segoe UI"/>
              </a:defRPr>
            </a:pPr>
            <a:r>
              <a:t>Sinh Viên Thực Hiện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4434840"/>
            <a:ext cx="33832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Segoe UI"/>
              </a:defRPr>
            </a:pPr>
            <a:r>
              <a:t>Nguyễn Văn Tèo &amp; Nhóm</a:t>
            </a:r>
            <a:br/>
            <a:r>
              <a:t>GitHub: github.com/hieuqt05/quiz-ai-system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01. TỔNG QUAN &amp; BỐI CẢNH</a:t>
            </a:r>
          </a:p>
          <a:p>
            <a:pPr>
              <a:spcAft>
                <a:spcPts val="4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Lý Do Chọn Đề Tài &amp; Mục Tiêu Dự Án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Nhu cầu kiểm tra trắc nghiệm online kết hợp AI và công nghệ mạng tin cậy.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32918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Segoe UI"/>
              </a:defRPr>
            </a:pPr>
            <a:r>
              <a:t>⚠️ Thực Trạng &amp; Khó Khăn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475488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50">
                <a:solidFill>
                  <a:srgbClr val="CBD5E1"/>
                </a:solidFill>
                <a:latin typeface="Segoe UI"/>
              </a:defRPr>
            </a:pPr>
            <a:r>
              <a:t>• Biên soạn đề thi thủ công: Tốn nhiều thời gian, công sức và khó đa dạng hóa ngân hàng câu hỏi.</a:t>
            </a:r>
          </a:p>
          <a:p>
            <a:pPr>
              <a:spcAft>
                <a:spcPts val="1000"/>
              </a:spcAft>
              <a:defRPr sz="1350">
                <a:solidFill>
                  <a:srgbClr val="CBD5E1"/>
                </a:solidFill>
                <a:latin typeface="Segoe UI"/>
              </a:defRPr>
            </a:pPr>
            <a:r>
              <a:t>• Thiếu giải thích chi tiết: Thí sinh làm bài sai nhưng không biết lý do tại sao sai để ôn luyện.</a:t>
            </a:r>
          </a:p>
          <a:p>
            <a:pPr>
              <a:spcAft>
                <a:spcPts val="1000"/>
              </a:spcAft>
              <a:defRPr sz="1350">
                <a:solidFill>
                  <a:srgbClr val="CBD5E1"/>
                </a:solidFill>
                <a:latin typeface="Segoe UI"/>
              </a:defRPr>
            </a:pPr>
            <a:r>
              <a:t>• Yêu cầu mạng khắt khe: Hệ thống thi online đòi hỏi truyền tin tin cậy, tuyệt đối không được thất lạc gói tin khi nộp bài.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32918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💡 Giải Pháp Của QuizAI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94560"/>
            <a:ext cx="475488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50">
                <a:solidFill>
                  <a:srgbClr val="CBD5E1"/>
                </a:solidFill>
                <a:latin typeface="Segoe UI"/>
              </a:defRPr>
            </a:pPr>
            <a:r>
              <a:t>• Tích hợp Google Gemini AI: Tự động sinh câu hỏi trắc nghiệm theo chủ đề hoặc văn bản kèm lời giải thích chi tiết.</a:t>
            </a:r>
          </a:p>
          <a:p>
            <a:pPr>
              <a:spcAft>
                <a:spcPts val="1000"/>
              </a:spcAft>
              <a:defRPr sz="1350">
                <a:solidFill>
                  <a:srgbClr val="CBD5E1"/>
                </a:solidFill>
                <a:latin typeface="Segoe UI"/>
              </a:defRPr>
            </a:pPr>
            <a:r>
              <a:t>• Kiến trúc RESTful API đa luồng: Tốc độ xử lý cao, độc lập giữa giao diện client và server.</a:t>
            </a:r>
          </a:p>
          <a:p>
            <a:pPr>
              <a:spcAft>
                <a:spcPts val="1000"/>
              </a:spcAft>
              <a:defRPr sz="1350">
                <a:solidFill>
                  <a:srgbClr val="CBD5E1"/>
                </a:solidFill>
                <a:latin typeface="Segoe UI"/>
              </a:defRPr>
            </a:pPr>
            <a:r>
              <a:t>• Bảo mật mạng toàn diện: Chuẩn hóa HTTPS/TLS, mã hóa mật khẩu BCrypt và xác thực người dùng bằng JWT Token.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20640"/>
            <a:ext cx="10698480" cy="11887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303520"/>
            <a:ext cx="102412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🎯 Mục Tiêu Đạt Được Trong Môn Lập Trình Mạng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5321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Triển khai thực tế mô hình Client-Server, giao thức truyền tin TCP, cơ chế bắt tay 3 bước, định dạng gói tin HTTP RESTful, kỹ thuật bảo mật HTTPS/TLS và xác thực không trạng thái (Stateless Authentication) qua JWT Token.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02. TỔ CHỨC DỰ ÁN</a:t>
            </a:r>
          </a:p>
          <a:p>
            <a:pPr>
              <a:spcAft>
                <a:spcPts val="4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Thành Viên &amp; Phân Công Công Việc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Phân chia rõ ràng trách nhiệm chuyên môn giữa các thành viên trong nhóm.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3291840"/>
                <a:gridCol w="2468880"/>
                <a:gridCol w="1127455"/>
              </a:tblGrid>
              <a:tr h="78638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Thành Viên</a:t>
                      </a:r>
                    </a:p>
                  </a:txBody>
                  <a:tcPr>
                    <a:solidFill>
                      <a:srgbClr val="1E29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Vai Trò</a:t>
                      </a:r>
                    </a:p>
                  </a:txBody>
                  <a:tcPr>
                    <a:solidFill>
                      <a:srgbClr val="1E29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Nhiệm Vụ Chính</a:t>
                      </a:r>
                    </a:p>
                  </a:txBody>
                  <a:tcPr>
                    <a:solidFill>
                      <a:srgbClr val="1E29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Giao Thức &amp; Kỹ Thuật</a:t>
                      </a:r>
                    </a:p>
                  </a:txBody>
                  <a:tcPr>
                    <a:solidFill>
                      <a:srgbClr val="1E29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Tiến Độ</a:t>
                      </a:r>
                    </a:p>
                  </a:txBody>
                  <a:tcPr>
                    <a:solidFill>
                      <a:srgbClr val="1E2945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Nguyễn Văn Tèo</a:t>
                      </a:r>
                      <a:br/>
                      <a:r>
                        <a:t>(Trưởng nhóm)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Fullstack &amp; Network Architecture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Thiết kế kiến trúc hệ thống, Backend REST API, Database EF Core, quản lý mạng &amp; triển khai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HTTP REST, TCP Connection, JWT Security, Reverse Proxy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Thành viên 02</a:t>
                      </a:r>
                    </a:p>
                  </a:txBody>
                  <a:tcPr>
                    <a:solidFill>
                      <a:srgbClr val="0F15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Frontend &amp; UI/UX Specialist</a:t>
                      </a:r>
                    </a:p>
                  </a:txBody>
                  <a:tcPr>
                    <a:solidFill>
                      <a:srgbClr val="0F15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Xây dựng giao diện React SPA, màn hình thi trắc nghiệm đếm ngược, responsive Tailwind CSS</a:t>
                      </a:r>
                    </a:p>
                  </a:txBody>
                  <a:tcPr>
                    <a:solidFill>
                      <a:srgbClr val="0F15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HTTP Axios, State Management, LocalStorage Token</a:t>
                      </a:r>
                    </a:p>
                  </a:txBody>
                  <a:tcPr>
                    <a:solidFill>
                      <a:srgbClr val="0F15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0F1524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Thành viên 03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AI Integration &amp; Backend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Tích hợp Google Gemini API, Prompt Engineering, cơ chế Retry &amp; Exponential Backoff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External HTTPS Calls, JSON Schema Validation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Thành viên 04</a:t>
                      </a:r>
                    </a:p>
                  </a:txBody>
                  <a:tcPr>
                    <a:solidFill>
                      <a:srgbClr val="0F15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Testing &amp; Documentation</a:t>
                      </a:r>
                    </a:p>
                  </a:txBody>
                  <a:tcPr>
                    <a:solidFill>
                      <a:srgbClr val="0F15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Kiểm thử API (Postman/Swagger), bắt gói tin phân tích HTTP/HTTPS, viết báo cáo &amp; slide</a:t>
                      </a:r>
                    </a:p>
                  </a:txBody>
                  <a:tcPr>
                    <a:solidFill>
                      <a:srgbClr val="0F15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Wireshark, DevTools Network, Swagger OpenAPI</a:t>
                      </a:r>
                    </a:p>
                  </a:txBody>
                  <a:tcPr>
                    <a:solidFill>
                      <a:srgbClr val="0F15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0F1524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760720"/>
            <a:ext cx="10728655" cy="640080"/>
          </a:xfrm>
          <a:prstGeom prst="roundRect">
            <a:avLst/>
          </a:prstGeom>
          <a:solidFill>
            <a:srgbClr val="0F1524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8BDF8"/>
                </a:solidFill>
                <a:latin typeface="Segoe UI"/>
              </a:defRPr>
            </a:pPr>
            <a:r>
              <a:t>Quản lý mã nguồn tập trung trên GitHub: https://github.com/hieuqt05/quiz-ai-system (Phân chia nhánh tính năng rõ ràng)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03. KẾ HOẠCH &amp; TIẾN ĐỘ</a:t>
            </a:r>
          </a:p>
          <a:p>
            <a:pPr>
              <a:spcAft>
                <a:spcPts val="4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Timeline – Lộ Trình Phát Triển Dự Án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Quy trình thực hiện qua 5 giai đoạn tuần tự từ nghiên cứu đến hoàn thiện đồ án.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868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783080"/>
            <a:ext cx="640080" cy="594360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73736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Tuần 1 - 2: Khảo Sát &amp; Thiết Kế Kiến Trúc Mạng</a:t>
            </a:r>
          </a:p>
          <a:p>
            <a:pPr>
              <a:defRPr sz="1150">
                <a:solidFill>
                  <a:srgbClr val="CBD5E1"/>
                </a:solidFill>
                <a:latin typeface="Segoe UI"/>
              </a:defRPr>
            </a:pPr>
            <a:r>
              <a:t>Phân tích yêu cầu bài toán thi trắc nghiệm, thiết kế mô hình thực thể ERD (7 bảng), phác thảo RESTful API Endpoints và định tuyến mạng.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49840" y="1874519"/>
            <a:ext cx="1097280" cy="41148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818CF8"/>
                </a:solidFill>
                <a:latin typeface="Segoe UI"/>
              </a:defRPr>
            </a:pPr>
            <a:r>
              <a:t>ĐÃ XONG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06040"/>
            <a:ext cx="10728655" cy="868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743200"/>
            <a:ext cx="640080" cy="59436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69748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Tuần 3 - 4: Lập Trình Backend API &amp; Cơ Sở Dữ Liệu</a:t>
            </a:r>
          </a:p>
          <a:p>
            <a:pPr>
              <a:defRPr sz="1150">
                <a:solidFill>
                  <a:srgbClr val="CBD5E1"/>
                </a:solidFill>
                <a:latin typeface="Segoe UI"/>
              </a:defRPr>
            </a:pPr>
            <a:r>
              <a:t>Xây dựng ASP.NET Core 9 Web API, kết nối SQL Server qua EF Core, cấu hình xác thực JWT Bearer, phân quyền Role (Student, Teacher, Admin), mã hóa BCrypt.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49840" y="2834640"/>
            <a:ext cx="1097280" cy="41148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ĐÃ XONG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66160"/>
            <a:ext cx="10728655" cy="868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3703320"/>
            <a:ext cx="640080" cy="59436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65760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Tuần 5 - 6: Tích Hợp AI &amp; Xây Dựng Frontend SPA</a:t>
            </a:r>
          </a:p>
          <a:p>
            <a:pPr>
              <a:defRPr sz="1150">
                <a:solidFill>
                  <a:srgbClr val="CBD5E1"/>
                </a:solidFill>
                <a:latin typeface="Segoe UI"/>
              </a:defRPr>
            </a:pPr>
            <a:r>
              <a:t>Kết nối Google Gemini API với cơ chế retry; xây dựng Frontend React + Vite: màn hình làm bài thi có đếm ngược, nộp bài, xem giải thích chi tiết, dashboard.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49840" y="3794760"/>
            <a:ext cx="1097280" cy="41148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C4899"/>
                </a:solidFill>
                <a:latin typeface="Segoe UI"/>
              </a:defRPr>
            </a:pPr>
            <a:r>
              <a:t>ĐÃ XONG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26280"/>
            <a:ext cx="10728655" cy="868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4663440"/>
            <a:ext cx="640080" cy="5943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6177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Tuần 7: Kiểm Thử Mạng, Bảo Mật &amp; Bắt Gói Tin</a:t>
            </a:r>
          </a:p>
          <a:p>
            <a:pPr>
              <a:defRPr sz="1150">
                <a:solidFill>
                  <a:srgbClr val="CBD5E1"/>
                </a:solidFill>
                <a:latin typeface="Segoe UI"/>
              </a:defRPr>
            </a:pPr>
            <a:r>
              <a:t>Kiểm thử API qua Swagger/Postman, bắt gói tin HTTP/HTTPS, kiểm tra token header, cơ chế chống gian lận thời gian và tự động nộp bài khi hết giờ.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49840" y="4754880"/>
            <a:ext cx="1097280" cy="41148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ĐÃ XONG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486400"/>
            <a:ext cx="10728655" cy="868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" y="5623560"/>
            <a:ext cx="640080" cy="5943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557784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Tuần 8 (Hiện Tại): Báo Cáo Giữa Kỳ &amp; Kế Hoạch Cuối Kỳ</a:t>
            </a:r>
          </a:p>
          <a:p>
            <a:pPr>
              <a:defRPr sz="1150">
                <a:solidFill>
                  <a:srgbClr val="CBD5E1"/>
                </a:solidFill>
                <a:latin typeface="Segoe UI"/>
              </a:defRPr>
            </a:pPr>
            <a:r>
              <a:t>Hoàn thiện slide thuyết trình, đóng gói tài liệu kỹ thuật, chuẩn bị kịch bản demo trực tiếp hệ thống cho hội đồng đánh giá.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49840" y="5715000"/>
            <a:ext cx="1097280" cy="41148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BÁO CÁO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04. TRÍ TUỆ NHÂN TẠO</a:t>
            </a:r>
          </a:p>
          <a:p>
            <a:pPr>
              <a:spcAft>
                <a:spcPts val="4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Phác Thảo Thiết Kế AI &amp; Prompt Engineering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Quy trình sinh câu hỏi trắc nghiệm tự động có kiểm soát bởi con người (Human-in-the-Loop).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36576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🤖 Cấu Hình &amp; Prompt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47548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Mô hình sử dụng: Google Gemini 3.8 Flash (Tối ưu hóa độ trễ và chi phí gọi API).</a:t>
            </a:r>
          </a:p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System Instruction JSON: Bắt buộc mô hình chỉ trả về định dạng JSON thuần túy, tuyệt đối không bọc trong markdown (```json).</a:t>
            </a:r>
          </a:p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Cấu trúc mỗi câu hỏi: QuestionText, 4 Options (A, B, C, D), IsCorrect (duy nhất 1 đáp án đúng), Explanation (lời giải chi tiết) và Difficulty.</a:t>
            </a:r>
          </a:p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Hỗ trợ 2 kiểu đầu vào: Sinh theo Chủ đề (Topic) hoặc trích xuất từ Đoạn văn bản bài học (Raw Text dài tối đa 15.000 ký tự).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36576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🛡️ Quy Trình Phê Duyệt (Human-in-the-Loop)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94560"/>
            <a:ext cx="47548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Bước 1: Giáo viên gửi yêu cầu sinh câu hỏi (POST /api/ai/generate).</a:t>
            </a:r>
          </a:p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Bước 2: Backend gọi Gemini API qua HTTPS POST; nhận chuỗi JSON.</a:t>
            </a:r>
          </a:p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Bước 3: Parse và Validate: Kiểm tra đúng 4 đáp án và duy nhất 1 đáp án đúng.</a:t>
            </a:r>
          </a:p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Bước 4: Lưu vào CSDL với trạng thái PENDING (Chưa xuất hiện trong đề thi).</a:t>
            </a:r>
          </a:p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Bước 5: Giáo viên xem xét, sửa nội dung nếu cần và duyệt (APPROVED) để chính thức mở cho học sinh thi.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86400"/>
            <a:ext cx="10728655" cy="868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669280"/>
            <a:ext cx="102714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Segoe UI"/>
              </a:defRPr>
            </a:pPr>
            <a:r>
              <a:t>⚡ Cơ Chế Xử Lý Lỗi Mạng &amp; Rate Limit (Exponential Backoff)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85216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Khi gặp sự cố mạng hoặc mã lỗi HTTP 429 (Too Many Requests) / 503 (Service Unavailable) từ Google API, hệ thống tự động Retry tối đa 3 lần với thời gian chờ tăng lũy tiến (2s → 4s) trước khi thông báo lỗi, bảo vệ hệ thống không bị crash.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05. TÍNH NĂNG SẢN PHẨM</a:t>
            </a:r>
          </a:p>
          <a:p>
            <a:pPr>
              <a:spcAft>
                <a:spcPts val="4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Các Chức Năng Chính Của Hệ Thống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Xây dựng trọn vẹn theo 3 nhóm vai trò người dùng (Role-Based Access Control).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🎓 Dành Cho Học Sinh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29260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Đăng ký tài khoản &amp; Đăng nhập bảo mật.</a:t>
            </a:r>
          </a:p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Tra cứu danh sách đề thi theo môn học.</a:t>
            </a:r>
          </a:p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Làm bài thi trực tuyến với đồng hồ đếm ngược.</a:t>
            </a:r>
          </a:p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Tự động nộp bài khi hết giờ quy định.</a:t>
            </a:r>
          </a:p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Xem kết quả tức thời, phổ điểm &amp; lời giải thích chi tiết cho từng câu.</a:t>
            </a:r>
          </a:p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Tra cứu lịch sử các bài thi đã hoàn thành.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818CF8"/>
                </a:solidFill>
                <a:latin typeface="Segoe UI"/>
              </a:defRPr>
            </a:pPr>
            <a:r>
              <a:t>👨‍🏫 Dành Cho Giáo Viên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194560"/>
            <a:ext cx="29260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Quản lý đề thi: Tạo mới, chỉnh sửa, xóa đề thi.</a:t>
            </a:r>
          </a:p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Quản lý vòng đời đề thi: DRAFT → PUBLISHED → ARCHIVED.</a:t>
            </a:r>
          </a:p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Sinh câu hỏi tự động bằng AI (Google Gemini).</a:t>
            </a:r>
          </a:p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Kiểm duyệt / Chỉnh sửa / Phê duyệt câu hỏi AI.</a:t>
            </a:r>
          </a:p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Thêm câu hỏi thủ công truyền thống.</a:t>
            </a:r>
          </a:p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Xem thống kê điểm trung bình, tỷ lệ đạt của từng đề thi.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82880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EC4899"/>
                </a:solidFill>
                <a:latin typeface="Segoe UI"/>
              </a:defRPr>
            </a:pPr>
            <a:r>
              <a:t>⚙️ Quản Trị Viên (Admin)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194560"/>
            <a:ext cx="29260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Toàn quyền quản lý ngân hàng đề thi toàn trường.</a:t>
            </a:r>
          </a:p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Quản lý danh sách người dùng (Khóa / Mở khóa tài khoản).</a:t>
            </a:r>
          </a:p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Phân quyền hệ thống: STUDENT, TEACHER, ADMIN.</a:t>
            </a:r>
          </a:p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Giám sát nhật ký gọi AI (AIGenerationLogs).</a:t>
            </a:r>
          </a:p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Theo dõi toàn bộ danh sách bài thi đã nộp của các lớp.</a:t>
            </a:r>
          </a:p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Báo cáo thống kê hiệu suất hệ thống.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06. CÔNG NGHỆ &amp; KỸ THUẬT</a:t>
            </a:r>
          </a:p>
          <a:p>
            <a:pPr>
              <a:spcAft>
                <a:spcPts val="4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Ngăn Xếp Công Nghệ Sử Dụng (Technology Stack)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Sự kết hợp giữa nền tảng Microsoft .NET mạnh mẽ và hệ sinh thái React hiện đại.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35661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818CF8"/>
                </a:solidFill>
                <a:latin typeface="Segoe UI"/>
              </a:defRPr>
            </a:pPr>
            <a:r>
              <a:t>🖥️ Backend: ASP.NET Core 9.0 Web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475488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Framework: ASP.NET Core Web API (.NET 9.0) – Xử lý I/O mạng hiệu năng cao.</a:t>
            </a:r>
          </a:p>
          <a:p>
            <a:pPr>
              <a:spcAft>
                <a:spcPts val="7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ORM &amp; Database: Entity Framework Core 9.0 + SQL Server LocalDB (7 bảng dữ liệu quan hệ chặt chẽ).</a:t>
            </a:r>
          </a:p>
          <a:p>
            <a:pPr>
              <a:spcAft>
                <a:spcPts val="7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Bảo mật: JWT Bearer Token xác thực &amp; BCrypt.Net mã hóa mật khẩu kèm Salt.</a:t>
            </a:r>
          </a:p>
          <a:p>
            <a:pPr>
              <a:spcAft>
                <a:spcPts val="7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HTTP Client: IHttpClientFactory cấu hình tối ưu kết nối gọi Google Gemini API.</a:t>
            </a:r>
          </a:p>
          <a:p>
            <a:pPr>
              <a:spcAft>
                <a:spcPts val="7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Tài liệu API: Swagger / OpenAPI UI tự động sinh tài liệu chuẩn hóa.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35661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🌐 Frontend: React 19 + Vite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94560"/>
            <a:ext cx="475488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Thư viện UI &amp; Build Tool: React 19 kết hợp Vite 8 (Hot Module Replacement siêu tốc).</a:t>
            </a:r>
          </a:p>
          <a:p>
            <a:pPr>
              <a:spcAft>
                <a:spcPts val="7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Styling: Tailwind CSS 3.4 thiết kế giao diện Dark Mode cao cấp, hiện đại.</a:t>
            </a:r>
          </a:p>
          <a:p>
            <a:pPr>
              <a:spcAft>
                <a:spcPts val="7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Định tuyến SPA: React Router DOM v7 với cơ chế bảo vệ Route (Protected Routes theo vai trò).</a:t>
            </a:r>
          </a:p>
          <a:p>
            <a:pPr>
              <a:spcAft>
                <a:spcPts val="7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HTTP Client: Axios kèm Interceptor tự động đính kèm Token JWT vào Header.</a:t>
            </a:r>
          </a:p>
          <a:p>
            <a:pPr>
              <a:spcAft>
                <a:spcPts val="7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UI Feedback: Lucide React icon hiện đại và React Hot Toast thông báo trạng thái.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94960"/>
            <a:ext cx="3383280" cy="10058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Google Gemini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80644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Model: gemini-3.8-flash</a:t>
            </a:r>
            <a:br/>
            <a:r>
              <a:t>Sinh đề tự động thông minh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5394960"/>
            <a:ext cx="3383280" cy="10058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557784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818CF8"/>
                </a:solidFill>
                <a:latin typeface="Segoe UI"/>
              </a:defRPr>
            </a:pPr>
            <a:r>
              <a:t>Bảo Mật Kép Mạng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580644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JWT Claims + BCrypt</a:t>
            </a:r>
            <a:br/>
            <a:r>
              <a:t>Chống giả mạo &amp; rò rỉ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5394960"/>
            <a:ext cx="3383280" cy="10058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557784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Kiến Trúc Tách Rời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580644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Decoupled SPA &amp; API</a:t>
            </a:r>
            <a:br/>
            <a:r>
              <a:t>Dễ mở rộng sang Mobile App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07. KIẾN TRÚC MẠNG</a:t>
            </a:r>
          </a:p>
          <a:p>
            <a:pPr>
              <a:spcAft>
                <a:spcPts val="4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Kiến Trúc Hệ Thống Tổng Thể (3-Tier Architecture)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Mô hình phân tầng Client - Server phân tán bảo đảm tính độc lập và mở rộng cao.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9997135" cy="1097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28800"/>
            <a:ext cx="953993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TẦNG 1: CLIENT TIER (React SPA – Port 5173)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103120"/>
            <a:ext cx="95097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Trình duyệt người dùng: Học sinh làm bài thi đếm ngược • Giáo viên quản lý đề &amp; duyệt câu hỏi • Admin xem thống kê</a:t>
            </a:r>
            <a:br/>
            <a:r>
              <a:t>Thực hiện gọi API qua giao thức HTTP REST (JSON) + Header: Authorization: Bearer &lt;Token&gt;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017520"/>
            <a:ext cx="9997135" cy="14630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3200400"/>
            <a:ext cx="953993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818CF8"/>
                </a:solidFill>
                <a:latin typeface="Segoe UI"/>
              </a:defRPr>
            </a:pPr>
            <a:r>
              <a:t>TẦNG 2: SERVER TIER (ASP.NET Core Web API – Port 5000)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74720"/>
            <a:ext cx="95097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• Controllers: AuthController, ExamsController, AIController, SubmissionsController, AdminController.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• Service Layer: AuthService (xác thực JWT), ExamService (CRUD đề thi), QuizService (chấm điểm), AIService (gọi Gemini).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• Data Access Layer: Entity Framework Core 9.0 DbContext, cấu hình quan hệ khóa ngoại và chỉ mục tìm kiếm.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754880"/>
            <a:ext cx="4846320" cy="15544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4937760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TẦNG 3A: DATABASE 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5212080"/>
            <a:ext cx="43891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SQL Server LocalDB (QuizSystemDB):</a:t>
            </a:r>
            <a:br/>
            <a:r>
              <a:t>7 bảng quan hệ: Users, Exams, Questions, Options, Submissions, SubmissionDetails, AIGenerationLogs.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754880"/>
            <a:ext cx="4846320" cy="15544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937760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EC4899"/>
                </a:solidFill>
                <a:latin typeface="Segoe UI"/>
              </a:defRPr>
            </a:pPr>
            <a:r>
              <a:t>TẦNG 3B: EXTERNAL AI CLOUD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5212080"/>
            <a:ext cx="43891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Google Gemini AI API:</a:t>
            </a:r>
            <a:br/>
            <a:r>
              <a:t>Kết nối qua HTTPS REST Endpoint (generativelanguage.googleapis.com) sử dụng model gemini-3.8-flash.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08. GIAO THỨC MẠNG</a:t>
            </a:r>
          </a:p>
          <a:p>
            <a:pPr>
              <a:spcAft>
                <a:spcPts val="4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Các Giao Thức Mạng Áp Dụng (Mô Hình TCP/IP)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Phân tầng mạng và cơ chế vận chuyển gói tin từ người dùng đến hạ tầng máy chủ.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📦 Phân Tầng Giao Thức TCP/IP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Tầng Ứng Dụng (Application Layer):</a:t>
            </a:r>
            <a:br/>
            <a:r>
              <a:t>• Giao thức HTTP / HTTPS: Truyền tải các payload JSON RESTful API giữa React và ASP.NET Core.</a:t>
            </a:r>
            <a:br/>
            <a:r>
              <a:t>• DNS (Domain Name System): Phân giải tên miền khi gọi Google Gemini API.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Tầng Truyền Vận (Transport Layer):</a:t>
            </a:r>
            <a:br/>
            <a:r>
              <a:t>• Giao thức TCP (Transmission Control Protocol): Đảm bảo truyền tin tin cậy, không mất gói khi nộp bài thi.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Tầng Mạng (Network / Internet Layer):</a:t>
            </a:r>
            <a:br/>
            <a:r>
              <a:t>• Giao thức IP (IPv4 / IPv6): Đóng gói và định tuyến các gói tin qua các router trên môi trường mạng.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Tầng Truy Cập Mạng (Network Access Layer):</a:t>
            </a:r>
            <a:br/>
            <a:r>
              <a:t>• Ethernet / Wi-Fi (802.11): Truyền tín hiệu vật lý.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🤝 Tại Sao Bắt Buộc Dùng TCP Thay Vì UDP?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9456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Tính toàn vẹn tuyệt đối: Trong bài thi trắc nghiệm, mất dù chỉ 1 câu trả lời sẽ làm sai lệch kết quả điểm số. UDP không bảo đảm mất gói, do đó không thể sử dụng.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Bảo đảm thứ tự (In-Order Delivery): TCP đánh số thứ tự (Sequence Number) cho từng gói tin, bảo đảm dữ liệu nộp bài được ghép nối chính xác.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Cơ chế báo nhận (ACK) &amp; Phát lại (Retransmission): Nếu gói tin bị rớt trên đường truyền, TCP tự động gửi lại.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Bắt tay 3 bước (TCP 3-Way Handshake):</a:t>
            </a:r>
            <a:br/>
            <a:r>
              <a:t>• Bước 1: Client gửi SYN (seq = x)</a:t>
            </a:r>
            <a:br/>
            <a:r>
              <a:t>• Bước 2: Server trả lời SYN-ACK (seq = y, ack = x+1)</a:t>
            </a:r>
            <a:br/>
            <a:r>
              <a:t>• Bước 3: Client gửi ACK (ack = y+1) → Kết nối ESTABLISHED sẵn sàng truyền dữ liệu.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09. WEB PROTOCOL</a:t>
            </a:r>
          </a:p>
          <a:p>
            <a:pPr>
              <a:spcAft>
                <a:spcPts val="4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Giao Thức Web &amp; Cơ Chế Hoạt Động RESTful API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Cấu trúc thông điệp HTTP Request / Response và nguyên lý truyền thông không trạng thái.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818CF8"/>
                </a:solidFill>
                <a:latin typeface="Segoe UI"/>
              </a:defRPr>
            </a:pPr>
            <a:r>
              <a:t>📬 Cấu Trúc Thông Điệp HTTP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50">
                <a:solidFill>
                  <a:srgbClr val="38BDF8"/>
                </a:solidFill>
                <a:latin typeface="Consolas"/>
              </a:defRPr>
            </a:pPr>
            <a:r>
              <a:t>1. HTTP Request Line:</a:t>
            </a:r>
            <a:br/>
            <a:r>
              <a:t>POST /api/submissions/submit HTTP/1.1</a:t>
            </a:r>
          </a:p>
          <a:p>
            <a:pPr>
              <a:spcAft>
                <a:spcPts val="1000"/>
              </a:spcAft>
              <a:defRPr sz="1150">
                <a:solidFill>
                  <a:srgbClr val="38BDF8"/>
                </a:solidFill>
                <a:latin typeface="Consolas"/>
              </a:defRPr>
            </a:pPr>
            <a:r>
              <a:t>2. HTTP Headers:</a:t>
            </a:r>
            <a:br/>
            <a:r>
              <a:t>Host: localhost:5000</a:t>
            </a:r>
            <a:br/>
            <a:r>
              <a:t>Authorization: Bearer &lt;JWT_TOKEN&gt;</a:t>
            </a:r>
            <a:br/>
            <a:r>
              <a:t>Content-Type: application/json</a:t>
            </a:r>
          </a:p>
          <a:p>
            <a:pPr>
              <a:spcAft>
                <a:spcPts val="1000"/>
              </a:spcAft>
              <a:defRPr sz="1150">
                <a:solidFill>
                  <a:srgbClr val="38BDF8"/>
                </a:solidFill>
                <a:latin typeface="Consolas"/>
              </a:defRPr>
            </a:pPr>
            <a:r>
              <a:t>3. HTTP Message Body:</a:t>
            </a:r>
            <a:br/>
            <a:r>
              <a:t>{</a:t>
            </a:r>
            <a:br/>
            <a:r>
              <a:t>  "submissionId": 15,</a:t>
            </a:r>
            <a:br/>
            <a:r>
              <a:t>  "answers": [{ "questionId": 42, "selectedOptionId": 168 }]</a:t>
            </a:r>
            <a:br/>
            <a:r>
              <a:t>}</a:t>
            </a:r>
          </a:p>
          <a:p>
            <a:pPr>
              <a:spcAft>
                <a:spcPts val="1000"/>
              </a:spcAft>
              <a:defRPr sz="1150">
                <a:solidFill>
                  <a:srgbClr val="38BDF8"/>
                </a:solidFill>
                <a:latin typeface="Consolas"/>
              </a:defRPr>
            </a:pPr>
            <a:r>
              <a:t>4. HTTP Response:</a:t>
            </a:r>
            <a:br/>
            <a:r>
              <a:t>HTTP/1.1 200 OK</a:t>
            </a:r>
            <a:br/>
            <a:r>
              <a:t>Content-Type: application/json</a:t>
            </a:r>
            <a:br/>
            <a:r>
              <a:t>{ "totalScore": 90.0, "status": "COMPLETED" 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📑 Phương Thức &amp; Mã Trạng Thái Chuẩn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9456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Các phương thức HTTP (HTTP Verbs):</a:t>
            </a:r>
            <a:br/>
            <a:r>
              <a:t>• GET: Lấy danh sách đề thi, kết quả thi (an toàn, chỉ đọc).</a:t>
            </a:r>
            <a:br/>
            <a:r>
              <a:t>• POST: Tạo tài khoản, đăng nhập, nộp bài, sinh đề AI.</a:t>
            </a:r>
            <a:br/>
            <a:r>
              <a:t>• PATCH: Cập nhật từng phần (duyệt câu hỏi, publish đề thi).</a:t>
            </a:r>
            <a:br/>
            <a:r>
              <a:t>• DELETE: Xóa đề thi rác khỏi hệ thống.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Mã trạng thái chuẩn (HTTP Status Codes):</a:t>
            </a:r>
            <a:br/>
            <a:r>
              <a:t>• 200 OK: Xử lý thành công yêu cầu.</a:t>
            </a:r>
            <a:br/>
            <a:r>
              <a:t>• 201 Created: Tạo mới đề thi/tài khoản thành công.</a:t>
            </a:r>
            <a:br/>
            <a:r>
              <a:t>• 401 Unauthorized: Chưa đăng nhập hoặc Token hết hạn.</a:t>
            </a:r>
            <a:br/>
            <a:r>
              <a:t>• 403 Forbidden: Không đủ quyền hạn (vd: Student cố gọi API Admin).</a:t>
            </a:r>
            <a:br/>
            <a:r>
              <a:t>• 500 Internal Error: Lỗi ngoại lệ phía máy chủ.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Nguyên lý Stateless:</a:t>
            </a:r>
            <a:br/>
            <a:r>
              <a:t>Mỗi HTTP request độc lập hoàn toàn, máy chủ không lưu session trong RAM mà trích xuất danh tính từ JWT Token.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10. AN NINH MẠNG</a:t>
            </a:r>
          </a:p>
          <a:p>
            <a:pPr>
              <a:spcAft>
                <a:spcPts val="4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HTTPS: Cơ Chế Hoạt Động &amp; Bảo Mật TLS/SSL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Bảo vệ dữ liệu đề thi và thông tin đăng nhập trước các nguy cơ tấn công mạng.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🔐 Bản Chất Của HTTPS (HTTP over TLS)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Định nghĩa: HTTPS là giao thức HTTP chạy trên nền tầng bảo mật TLS (Transport Layer Security) tại cổng mặc định 443.</a:t>
            </a:r>
          </a:p>
          <a:p>
            <a:pPr>
              <a:spcAft>
                <a:spcPts val="12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3 Mục tiêu an ninh cốt lõi (CIA Triad):</a:t>
            </a:r>
            <a:br/>
            <a:r>
              <a:t>1. Confidentiality (Tính bí mật): Mã hóa dữ liệu truyền tải, chống nghe lén (Sniffing) qua Wireshark trong mạng LAN/Wi-Fi.</a:t>
            </a:r>
            <a:br/>
            <a:r>
              <a:t>2. Integrity (Tính toàn vẹn): Dùng mã băm MAC (Message Authentication Code) phát hiện nếu dữ liệu bài thi bị sửa đổi trên đường truyền.</a:t>
            </a:r>
            <a:br/>
            <a:r>
              <a:t>3. Authentication (Xác thực danh tính): Chứng chỉ số SSL/TLS do cơ quan CA chứng thực, chống tấn công giả mạo máy chủ (Man-in-the-Middle - MitM).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EC4899"/>
                </a:solidFill>
                <a:latin typeface="Segoe UI"/>
              </a:defRPr>
            </a:pPr>
            <a:r>
              <a:t>⚡ Quy Trình Bắt Tay TLS Handshake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9456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1. Client Hello:</a:t>
            </a:r>
            <a:br/>
            <a:r>
              <a:t>Client gửi phiên bản TLS hỗ trợ, chuỗi ngẫu nhiên (Client Random) và danh sách bộ thuật toán mã hóa (Cipher Suites).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2. Server Hello &amp; Certificate:</a:t>
            </a:r>
            <a:br/>
            <a:r>
              <a:t>Server chọn bộ mã hóa phù hợp, gửi Server Random và gửi Chứng chỉ số SSL (chứa Khóa công khai - Public Key).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3. Key Exchange (Trao đổi khóa bí mật):</a:t>
            </a:r>
            <a:br/>
            <a:r>
              <a:t>Client xác thực chứng chỉ với CA; tạo Pre-Master Secret và mã hóa bằng Public Key của Server gửi đi.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4. Thiết lập Khóa Phiên (Session Key):</a:t>
            </a:r>
            <a:br/>
            <a:r>
              <a:t>Cả 2 bên dùng thuật toán băm tạo Session Key chung (AES-256).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5. Mã hóa đối xứng dữ liệu:</a:t>
            </a:r>
            <a:br/>
            <a:r>
              <a:t>Sau khi bắt tay hoàn tất, mọi gói tin HTTP đều được mã hóa đối xứng AES tốc độ cao.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11. XÁC THỰC &amp; KIỂM SOÁT TRUY CẬP</a:t>
            </a:r>
          </a:p>
          <a:p>
            <a:pPr>
              <a:spcAft>
                <a:spcPts val="4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Cơ Chế Xác Thực JWT &amp; Chính Sách Mạng CORS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Bảo vệ tài nguyên API thông qua cơ chế chữ ký số không trạng thái (Stateless Token).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🎫 Cấu Trúc &amp; Cơ Chế Xác Thực JWT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Cấu trúc 3 phần ngăn cách bởi dấu chấm:</a:t>
            </a:r>
            <a:br/>
            <a:r>
              <a:t>• Header: { "alg": "HS256", "typ": "JWT" }</a:t>
            </a:r>
            <a:br/>
            <a:r>
              <a:t>• Payload: { "nameid": "1", "role": "TEACHER", "exp": 1730000 }</a:t>
            </a:r>
            <a:br/>
            <a:r>
              <a:t>• Signature: HMAC-SHA256(Header + Payload, SecretKey)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Ưu điểm mạng vượt trội:</a:t>
            </a:r>
            <a:br/>
            <a:r>
              <a:t>• Không trạng thái (Stateless): Server giải mã vai trò và ID của user trực tiếp từ Token mà không cần query Database.</a:t>
            </a:r>
            <a:br/>
            <a:r>
              <a:t>• Giảm tải băng thông và tải truy vấn CSDL đáng kể.</a:t>
            </a:r>
            <a:br/>
            <a:r>
              <a:t>• Token có hạn sử dụng 24h, bảo vệ tài nguyên an toàn.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Mã hóa mật khẩu BCrypt:</a:t>
            </a:r>
            <a:br/>
            <a:r>
              <a:t>Mật khẩu được băm một chiều với chuỗi muối (Salt) ngẫu nhiên, chống lại tấn công Rainbow Table.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Segoe UI"/>
              </a:defRPr>
            </a:pPr>
            <a:r>
              <a:t>🛡️ Giải Quyết CORS &amp; Reverse Proxy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9456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Vấn đề mạng (Cross-Origin Resource Sharing):</a:t>
            </a:r>
            <a:br/>
            <a:r>
              <a:t>Trình duyệt thực thi chính sách bảo mật Same-Origin Policy, chặn các yêu cầu JavaScript giữa 2 nguồn khác port: React (5173) và ASP.NET Core (5000).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Giải pháp 1: CORS Middleware (ASP.NET Core):</a:t>
            </a:r>
            <a:br/>
            <a:r>
              <a:t>Cấu hình builder.Services.AddCors() cấp phép rõ ràng cho Origin http://localhost:5173, cho phép các HTTP Header và Method cần thiết.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Giải pháp 2: Vite Reverse Proxy (Triển khai chính):</a:t>
            </a:r>
            <a:br/>
            <a:r>
              <a:t>Cấu hình proxy trong vite.config.js: Mọi request /api/* gửi từ React được proxy tự động chuyển tiếp nội bộ sang http://localhost:5000, triệt tiêu hoàn toàn lỗi CORS và che giấu địa chỉ máy chủ backend.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12. LUỒNG DỮ LIỆU (DATA FLOW)</a:t>
            </a:r>
          </a:p>
          <a:p>
            <a:pPr>
              <a:spcAft>
                <a:spcPts val="4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Luồng Dữ Liệu 1: Đăng Nhập &amp; Xác Thực Tài Khoản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Sơ đồ tuần tự các bước truyền tin từ khi người dùng nhập tài khoản đến khi cấp phát Token.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0515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828800"/>
            <a:ext cx="1005840" cy="68580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Bước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78308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Client gửi yêu cầu đăng nhập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React gửi HTTP POST /api/auth/login mang body JSON { username, password } qua kết nối TCP tới Backend API.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10728655" cy="10515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3017520"/>
            <a:ext cx="1005840" cy="685800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Bước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97180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Server truy vấn &amp; Đối soát mật khẩu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AuthController chuyển tiếp tới AuthService; truy vấn SQL Server tìm User; dùng BCrypt.Verify() so khớp mật khẩu người dùng nhập với hash trong CSDL.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10728655" cy="10515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5840" y="4206240"/>
            <a:ext cx="1005840" cy="685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Bước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416052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Ký số JWT Token &amp; Phản hồi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AuthService sinh chuỗi JWT chứa các Claims (UserId, Role, Username) có hạn dùng 24 giờ; trả về HTTP 200 OK kèm Token cho Client.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212080"/>
            <a:ext cx="10728655" cy="10515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05840" y="5394960"/>
            <a:ext cx="1005840" cy="685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Bước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534924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Lưu trữ Token &amp; Đính kèm Header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React lưu Token vào localStorage; Axios Interceptor tự động gán Header Authorization: Bearer &lt;Token&gt; vào mọi HTTP request sau đó.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13. LUỒNG DỮ LIỆU (DATA FLOW)</a:t>
            </a:r>
          </a:p>
          <a:p>
            <a:pPr>
              <a:spcAft>
                <a:spcPts val="4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Luồng Dữ Liệu 2: Tự Động Sinh Câu Hỏi Bằng AI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Quy trình gọi API bên thứ ba (External REST Service) tích hợp kiểm duyệt chất lượng.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0515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828800"/>
            <a:ext cx="1005840" cy="68580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Bước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78308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Giáo viên gửi yêu cầu sinh câu hỏi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Client gửi POST /api/ai/generate kèm Token JWT; mang payload gồm chủ đề hoặc văn bản bài giảng, số lượng câu và độ khó.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10728655" cy="10515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3017520"/>
            <a:ext cx="1005840" cy="685800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Bước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97180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Backend gọi Google Gemini API qua HTTPS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AIService đóng gói Prompt có System Instructions JSON; dùng HttpClientFactory thực hiện HTTPS POST đến generativelanguage.googleapis.com (có cơ chế Retry).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10728655" cy="10515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5840" y="4206240"/>
            <a:ext cx="1005840" cy="68580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Bước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416052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Parse JSON, Validate &amp; Lưu CSDL PENDING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Backend bóc tách chuỗi JSON trả về; kiểm tra đủ 4 phương án A/B/C/D; lưu câu hỏi vào DB với trạng thái PENDING và ghi log vào AIGenerationLogs.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212080"/>
            <a:ext cx="10728655" cy="10515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05840" y="5394960"/>
            <a:ext cx="1005840" cy="685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Bước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534924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Kiểm duyệt &amp; Công bố đề thi (Approval)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Giáo viên tra cứu danh sách câu hỏi chờ duyệt; gửi PATCH /api/exams/questions/{id}/approve để chính thức đưa câu hỏi vào đề thi cho học sinh làm bài.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14. LUỒNG DỮ LIỆU (DATA FLOW)</a:t>
            </a:r>
          </a:p>
          <a:p>
            <a:pPr>
              <a:spcAft>
                <a:spcPts val="4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Luồng Dữ Liệu 3: Làm Bài Thi &amp; Chấm Điểm Thời Gian Thực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Cơ chế đồng bộ thời gian máy chủ và xử lý bài nộp tin cậy chống gian lận.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35661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⏱️ Giai Đoạn 1: Bắt Đầu &amp; Đồng Bộ Thời Gian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475488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Khởi tạo bài thi: Client gửi POST /api/submissions/start kèm ExamId.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Ghi nhận mốc giờ Server (Server Time): Server tạo record Submissions với StartedAt = DateTime.UtcNow và trạng thái IN_PROGRESS.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Chống gian lận giờ: Server tính toán RemainingSeconds gửi về Client. Thời gian làm bài hoàn toàn không phụ thuộc vào đồng hồ trên máy tính cá nhân của học sinh.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Tiếp tục bài dở dang: Nếu học sinh bị rớt mạng, vào lại bài thi sẽ tự động nhận diện bài nộp cũ và trừ đi thời gian đã trôi qua.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35661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📊 Giai Đoạn 2: Nộp Bài &amp; Chấm Điểm Tức Thì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94560"/>
            <a:ext cx="475488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Kích hoạt nộp bài: Khi học sinh nhấn Nộp bài hoặc đồng hồ đếm ngược chạm mốc 00:00 (Tự động trigger).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Gửi gói tin: POST /api/submissions/submit chứa danh sách câu trả lời.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Chấm điểm tự động: Server duyệt từng câu hỏi, đối chiếu IsCorrect trong bảng Options.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Công thức: TotalScore = (Số câu đúng / Tổng số câu) * 100.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Lưu kết quả &amp; Trả về: Cập nhật trạng thái COMPLETED, ghi nhận từng câu đúng/sai vào SubmissionDetails và trả kết quả kèm lời giải thích chi tiết.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94960"/>
            <a:ext cx="10728655" cy="10058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102714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Segoe UI"/>
              </a:defRPr>
            </a:pPr>
            <a:r>
              <a:t>🛡️ Cơ Chế Xử Lý Lỗi Rớt Mạng (Fault Tolerance)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76072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Mọi bài thi đang dở dang (IN_PROGRESS) quá hạn làm bài sẽ tự động được hệ thống đóng và tính điểm khi học sinh thao tác lại, bảo đảm tính công bằng tuyệt đối cho kỳ thi.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15. THỰC NGHIỆM &amp; KẾT QUẢ</a:t>
            </a:r>
          </a:p>
          <a:p>
            <a:pPr>
              <a:spcAft>
                <a:spcPts val="4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Kết Quả Đạt Được &amp; Giao Diện Thực Tế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Hệ thống đã triển khai hoàn chỉnh và vận hành ổn định trên môi trường thực tế.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11887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22860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600" b="1">
                <a:solidFill>
                  <a:srgbClr val="38BDF8"/>
                </a:solidFill>
                <a:latin typeface="Segoe UI"/>
              </a:defRPr>
            </a:pPr>
            <a:r>
              <a:t>100%</a:t>
            </a:r>
          </a:p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API RESTful Ổn Định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11887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783080"/>
            <a:ext cx="22860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600" b="1">
                <a:solidFill>
                  <a:srgbClr val="818CF8"/>
                </a:solidFill>
                <a:latin typeface="Segoe UI"/>
              </a:defRPr>
            </a:pPr>
            <a:r>
              <a:t>&lt; 150ms</a:t>
            </a:r>
          </a:p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Thời Gian Đáp Ứng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11887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59" y="1783080"/>
            <a:ext cx="22860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600" b="1">
                <a:solidFill>
                  <a:srgbClr val="EC4899"/>
                </a:solidFill>
                <a:latin typeface="Segoe UI"/>
              </a:defRPr>
            </a:pPr>
            <a:r>
              <a:t>~ 3 giây</a:t>
            </a:r>
          </a:p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Sinh Câu Hỏi Bằng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11887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1783080"/>
            <a:ext cx="22860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600" b="1">
                <a:solidFill>
                  <a:srgbClr val="10B981"/>
                </a:solidFill>
                <a:latin typeface="Segoe UI"/>
              </a:defRPr>
            </a:pPr>
            <a:r>
              <a:t>3 Cấp</a:t>
            </a:r>
          </a:p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Phân Quyền RBAC Chặt Chẽ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17520"/>
            <a:ext cx="3383280" cy="32918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20040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🖥️ Màn Hình Làm Bài Thi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566160"/>
            <a:ext cx="292608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• Đồng hồ đếm ngược thời gian thực.</a:t>
            </a:r>
            <a:br/>
            <a:r>
              <a:t>• Bảng điều hướng câu hỏi trực quan.</a:t>
            </a:r>
            <a:br/>
            <a:r>
              <a:t>• Trạng thái câu đã làm/chưa làm.</a:t>
            </a:r>
            <a:br/>
            <a:r>
              <a:t>• Cảnh báo xác nhận khi nộp bài.</a:t>
            </a:r>
            <a:br/>
            <a:r>
              <a:t>• Tự động nộp khi hết thời gian quy định.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017520"/>
            <a:ext cx="3383280" cy="32918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20040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818CF8"/>
                </a:solidFill>
                <a:latin typeface="Segoe UI"/>
              </a:defRPr>
            </a:pPr>
            <a:r>
              <a:t>🤖 Quản Trị AI &amp; Duyệt Đề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566160"/>
            <a:ext cx="292608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• Form nhập chủ đề/tài liệu sinh câu hỏi.</a:t>
            </a:r>
            <a:br/>
            <a:r>
              <a:t>• Tùy chọn số lượng câu và cấp độ khó.</a:t>
            </a:r>
            <a:br/>
            <a:r>
              <a:t>• Bảng danh sách câu hỏi chờ duyệt (Pending).</a:t>
            </a:r>
            <a:br/>
            <a:r>
              <a:t>• Phê duyệt (Approve) hoặc Từ chối (Reject).</a:t>
            </a:r>
            <a:br/>
            <a:r>
              <a:t>• Chỉnh sửa nội dung câu hỏi trước khi publish.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3017520"/>
            <a:ext cx="3383280" cy="32918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320040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EC4899"/>
                </a:solidFill>
                <a:latin typeface="Segoe UI"/>
              </a:defRPr>
            </a:pPr>
            <a:r>
              <a:t>📈 Thống Kê &amp; Phân Tích Điểm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3566160"/>
            <a:ext cx="292608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• Biểu đồ phổ điểm trực quan của từng đề.</a:t>
            </a:r>
            <a:br/>
            <a:r>
              <a:t>• Thống kê điểm trung bình, điểm cao/thấp nhất.</a:t>
            </a:r>
            <a:br/>
            <a:r>
              <a:t>• Tỷ lệ đạt/trượt của học sinh tham gia.</a:t>
            </a:r>
            <a:br/>
            <a:r>
              <a:t>• Danh sách chi tiết từng bài nộp của thí sinh.</a:t>
            </a:r>
            <a:br/>
            <a:r>
              <a:t>• Lịch sử làm bài thi cá nhân của từng học sinh.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16. TỔNG KẾT &amp; TƯƠNG LAI</a:t>
            </a:r>
          </a:p>
          <a:p>
            <a:pPr>
              <a:spcAft>
                <a:spcPts val="4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Kết Luận &amp; Định Hướng Phát Triển Cuối Kỳ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Đánh giá kết quả đạt được giữa kỳ và kế hoạch mở rộng tính năng nâng cao cho cuối kỳ.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39319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✅ Kết Quả Đạt Được (Giữa Kỳ)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475488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Hoàn thành xuất sắc kiến trúc mạng Client - Server độc lập giữa ASP.NET Core 9 và React 19.</a:t>
            </a:r>
          </a:p>
          <a:p>
            <a:pPr>
              <a:spcAft>
                <a:spcPts val="10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Ứng dụng đầy đủ các kiến thức cốt lõi của môn Lập trình mạng: Giao thức truyền tin TCP tin cậy, mô hình RESTful API, bảo mật HTTPS/TLS, cơ chế xác thực JWT và giải quyết bài toán CORS.</a:t>
            </a:r>
          </a:p>
          <a:p>
            <a:pPr>
              <a:spcAft>
                <a:spcPts val="10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Tích hợp thành công mô hình AI Google Gemini giải quyết bài toán tự động sinh đề thi thực tiễn.</a:t>
            </a:r>
          </a:p>
          <a:p>
            <a:pPr>
              <a:spcAft>
                <a:spcPts val="10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Hệ thống vận hành mượt mà, phân quyền chặt chẽ và xử lý ngoại lệ mạng ổn định.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39319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🚀 Kế Hoạch Nâng Cấp (Cuối Kỳ)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94560"/>
            <a:ext cx="475488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Mạng Real-time với WebSocket / SignalR: Giám sát thí sinh trực tiếp theo thời gian thực (real-time proctoring), cảnh báo khi học sinh chuyển tab hoặc rời màn hình thi.</a:t>
            </a:r>
          </a:p>
          <a:p>
            <a:pPr>
              <a:spcAft>
                <a:spcPts val="10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Thi đấu đối kháng trực tiếp (Quiz Battle): Hai hoặc nhiều thí sinh thi đấu trực tiếp qua Socket mạng thời gian thực.</a:t>
            </a:r>
          </a:p>
          <a:p>
            <a:pPr>
              <a:spcAft>
                <a:spcPts val="10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Xuất đề thi ra PDF/Word: Cho phép in ấn đề thi giấy truyền thống khi cần.</a:t>
            </a:r>
          </a:p>
          <a:p>
            <a:pPr>
              <a:spcAft>
                <a:spcPts val="10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Triển khai Cloud &amp; Docker: Đóng gói Docker Container và triển khai lên hạ tầng đám mây (Azure/AWS) với chứng chỉ SSL chính thức.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760720"/>
            <a:ext cx="10728655" cy="6858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852160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CẢM ƠN THẦY CÔ VÀ CÁC BẠN ĐÃ LẮNG NGHE! NHÓM SẴN SÀNG TRẢ LỜI CÂU HỎI PHẢN BIỆN.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