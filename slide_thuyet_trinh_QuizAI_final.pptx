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88998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1200" b="1">
                <a:solidFill>
                  <a:srgbClr val="4338CA"/>
                </a:solidFill>
                <a:latin typeface="Segoe UI"/>
              </a:defRPr>
            </a:pPr>
            <a:r>
              <a:t>BÁO CÁO ĐỒ ÁN CUỐI KỲ • HỌC PHẦN LẬP TRÌNH MẠNG</a:t>
            </a:r>
          </a:p>
          <a:p>
            <a:pPr algn="ctr">
              <a:spcAft>
                <a:spcPts val="16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QuizAI – Hệ Thống Trắc Nghiệm Online</a:t>
            </a:r>
            <a:br/>
            <a:r>
              <a:t>Tích Hợp AI &amp; Giám Sát Thi Đa Thiết Bị</a:t>
            </a:r>
          </a:p>
          <a:p>
            <a:pPr algn="ctr">
              <a:spcAft>
                <a:spcPts val="2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Client-Server • RESTful API • TCP/IP • HTTPS TLS • Anti-Cheat 3 Lớp • Cloud Deployment</a:t>
            </a:r>
          </a:p>
          <a:p>
            <a:pPr algn="ct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Giảng viên hướng dẫn: Bộ môn Lập Trình Mạng    |    Nhóm sinh viên thực hiện: QuizAI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01. TỔNG QUAN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Lý Do Chọn Đề Tài &amp; Mục Tiêu Dự Án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Giải quyết bài toán tạo đề thi, chống gian lận và tối ưu hạ tầng mạng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  <a:latin typeface="Segoe UI"/>
              </a:defRPr>
            </a:pPr>
            <a:r>
              <a:t>Thực Trạng &amp;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Soạn đề thủ công: Tốn nhiều thời gian, khó đa dạng hóa câu hỏi.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Gian lận trực tuyến: Chuyển tab tra cứu Google, nhờ ChatGPT giải hộ.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Nhìn bài thi: Thí sinh ngồi cạnh nhau có cùng đề và vị trí đáp án.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Chụp trộm đề: Thí sinh dùng điện thoại hoặc phím tắt chụp màn hình.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Rủi ro đường truyền: Rớt mạng Wi-Fi làm mất sạch bài thi đang làm.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Mục Tiêu Giải Quyết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AI Gemini: Tự động sinh bộ đề 10-30 câu chuẩn xác trong 3-5 giây.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Chống gian lận 3 lớp: Bắt chuyển tab (3 lần nộp bài), chặn PrintScreen/DevTools.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Dynamic Watermark: In mờ danh tính thí sinh chống chụp ảnh bằng điện thoại.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Trộn đề Fisher-Yates: Đảo ngẫu nhiên vị trí câu hỏi &amp; đáp án A, B, C, D.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Auto-Save Real-time: Bảo toàn 100% dữ liệu bài làm khi rớt mạng hoặc F5.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02. TỔ CHỨC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Thành Viên &amp; PhÂN CÔNG CÔNG VIỆC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Phân chia rõ ràng trách nhiệm theo từng tầng kiến trúc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Backend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Lập trình ASP.NET Core 9 API.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Cấu hình TCP/IP, CORS &amp; Port 0.0.0.0.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Tích hợp Google Gemini AI.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Xác thực JWT &amp; Mã hóa BCrypt.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Thiết kế CSDL SQL Server &amp; EF 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Frontend &amp; UX/UI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Xây dựng giao diện React 19 SPA.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Thiết kế giao diện hiện đại &amp; responsive.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Xử lý Auto-Save &amp; Countdown Timer.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Trộn đề ngẫu nhiên per attempt.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Bảng thống kê &amp; Xuất Excel (.xlsx).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Security &amp; Cloud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Phát triển module Anti-Cheat 3 lớp.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Kỹ thuật Debounce chống đếm trùng tab.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Thiết lập Cloudflare Tunnel &amp; HTTPS.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Triển khai đám mây Vercel Production.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Kiểm thử tải đa thiết bị &amp; Báo cáo.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03. TIẾN ĐỘ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Timeline – Kế Hoạch &amp; Tiến Độ Thực Hiện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Quy trình phát triển chuẩn công nghiệp từ thiết kế đến triển khai thực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Giai Đoạn 1: Thiết Kế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031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Khảo sát nghiệp vụ.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Thiết kế mô hình mạng.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Thiết kế CSDL (ERD).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Chuẩn hóa RESTful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468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Giai Đoạn 2: Lập Trình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1031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Viết Backend Web API.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Viết Frontend React SPA.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Tích hợp Gemini GenAI.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Xử lý Token JWT &amp; 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  <a:latin typeface="Segoe UI"/>
              </a:defRPr>
            </a:pPr>
            <a:r>
              <a:t>Giai Đoạn 3: Nâng Cấp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1031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Anti-Cheat 3 lớp toàn diện.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Auto-Save &amp; Trộn đề.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Xuất Excel (.xlsx) chuẩn.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Chạy đa máy mạng 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Giai Đoạn 4: Hoàn Thiện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86000"/>
            <a:ext cx="21031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Cloudflare Tunnel &amp; HTTPS.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Deploy Vercel Production.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Kiểm thử tải đa thiết bị.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Nghiệm thu đồ án cuối kỳ.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04. CHỨC NĂNG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Các Chức Năng Cốt Lõi Của Hệ Thống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Phân quyền chặt chẽ giữa Thí sinh và Quản trị viên / Giáo viên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Phân Hệ Thí Sinh (Student)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Đăng ký / Đăng nhập: Bảo mật xác thực qua JWT Token.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Phòng thi trực tuyến: Đồng hồ đếm ngược đồng bộ Server UTC.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Trộn đề thông minh: Đảo ngẫu nhiên câu hỏi &amp; 4 đáp án A-B-C-D.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Auto-Save an toàn: Tự động lưu bài làm vào LocalStorage.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Xem kết quả: Chấm điểm tức thì, xem đáp án &amp; giải thích chi tiết.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Phân Hệ Giáo Viên &amp; Quản Trị (Admin)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AI Tạo đề tự động: Nhập chủ đề/tài liệu -&gt; Gemini AI sinh đề thi.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Kiểm duyệt câu hỏi: Xem trước, chỉnh sửa, phê duyệt hoặc xóa.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Quản lý đề &amp; Tài khoản: CRUD đề thi, kích hoạt/khóa tài khoản.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Giám sát vi phạm: Bảng theo dõi số lần gian lận rời màn hình.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Xuất báo cáo Excel: Tải file .xlsx định dạng chuẩn, không lỗi ###.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05. CÔNG NGHỆ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Ngăn Xếp Công Nghệ Toàn Diện (Tech Stack)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Kết hợp công nghệ hiện đại đảm bảo hiệu năng mạng, bảo mật và độ ổn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React 19: Xây dựng SPA tốc độ cao.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Vite 8: Build siêu tốc, hỗ trợ Proxy.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TailwindCSS: UI hiện đại, responsive.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Axios: Tự đính kèm Bearer Token.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SheetJS (xlsx): Xuất file Excel chuẩn.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Backend &amp; AI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ASP.NET Core 9: Web API đa luồng.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Kestrel Server: Độ trễ cực thấp &lt;120ms.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Google Gemini API: GenAI tạo trắc nghiệm.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JWT: Xác thực phi trạng thái (Stateless).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BCrypt.Net: Băm mật khẩu an toàn.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Database &amp; Cloud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SQL Server LocalDB: CSDL quan hệ.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EF Core 9: Migration &amp; Code-First.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Vercel Cloud: Hosting Frontend toàn cầu.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Cloudflare Tunnel: Kênh HTTPS bảo mật.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GitHub CI/CD: Tự động deploy khi push.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06. KIẾN TRÚC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Kiến Trúc Hệ Thống Tổng Thể (3-Tier)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Mô hình Client - Server 3 tầng phân tách rõ ràng trách nhiệm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Tầng Client (Presentation)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Single Page Application (SPA).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Giao tiếp qua HTTP/HTTPS REST API.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Lưu tạm đáp án vào LocalStorage.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Xáo trộn câu hỏi trên SessionStorage.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Bắt gian lận chuyển tab &amp; chụp ảnh.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Tầng Server (Business Logic)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Điều phối các Controller RESTful API.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Middleware kiểm tra chữ ký số JWT.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Tính toán điểm số &amp; ghi nhận vi phạm.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Đồng bộ thời gian thi theo Server UTC.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Gọi Google AI Studio qua HTTPS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Tầng Database (Data Access)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Lưu trữ bền vững dữ liệu chuẩn ACID.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Bảng Users: Tài khoản &amp; Hash mật khẩu.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Bảng Exams &amp; Questions: Ngân hàng đề.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Bảng Submissions: Điểm &amp; Số lần vi phạm.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Bảng Details: Chi tiết từng câu trả lời.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07. TRIỂN KHAI MẠNG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Cơ Chế Triển Khai Mạng: LAN &amp; Cloud Production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Hỗ trợ kết nối đồng thời từ máy tính, laptop và điện thoại thông minh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1. Mạng LAN (Phòng Lab / Wi-Fi)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Lắng nghe 0.0.0.0: Bind cổng 5000 &amp; 5173 trên mọi card mạng.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Vite Reverse Proxy: Chuyển tiếp ngầm /api/* về Backend Kestrel.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Mở Firewall Windows: Lệnh netsh mở port cho các máy con kết nối.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Truy cập tức thì: Học sinh mở http://192.168.x.x:5173.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Khởi động 1-Click: File chay_he_thong.bat tự tìm IP nội bộ.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2. Cloud Production (Vercel &amp; Cloudflare)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Tên miền chính thức: https://quiz-ai-system.vercel.app/.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CDN Toàn cầu: Vercel Edge Network tải giao diện siêu tốc.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Cloudflare HTTPS Tunnel: Kết nối an toàn không cần mở port modem.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Vượt qua rào cản mạng: Chạy mượt mà trên 4G/5G và mạng ngoài trường.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CI/CD Tự động: Commit code lên GitHub tự động cập nhật hệ thống.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08. GIAO THỨC MẠNG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Thức Mạng &amp; Mô Hình TCP/IP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Cơ sở lý thuyết mạng truyền thông áp dụng trong hệ thống thi cử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  <a:latin typeface="Segoe UI"/>
              </a:defRPr>
            </a:pPr>
            <a:r>
              <a:t>Tại Sao Chọn TCP Thay Vì UDP?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Hướng kết nối (Connection-oriented): Đảm bảo thông suốt.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Tin cậy tuyệt đối: Có cờ báo nhận ACK và Sequence Number.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Chống mất gói tin: Tự động phát lại (Retransmission) nếu lag mạng.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Đúng thứ tự: Gói tin đến đích luôn được sắp xếp chính xác.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Không dùng UDP: Tránh thất lạc gói tin nộp bài làm sai lệch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Cơ Chế Bắt Tay 3 Bước (3-Way Handshake)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Bước 1 (SYN): Client gửi yêu cầu kết nối kèm số Seq khởi tạo.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Bước 2 (SYN-ACK): Server xác nhận và gửi số Seq của mình.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Bước 3 (ACK): Client xác nhận hoàn tất -&gt; Phiên TCP mở.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Quá trình ngắt kết nối (4-Way Handshake): FIN -&gt; ACK -&gt; FIN -&gt; ACK.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Ứng dụng: Mọi cuộc gọi HTTP/HTTPS đều thiết lập qua TCP.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09. GIAO THỨC WEB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Thức Web &amp; Kiến Trúc RESTful API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Chuẩn hóa tài nguyên mạng bằng các phương thức HTTP tiêu chuẩn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Các Phương Thức HTTP Tiêu Chuẩn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GET: Lấy tài nguyên (Đọc danh sách đề thi, xem bảng điểm).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POST: Tạo mới tài nguyên (Đăng ký, Đăng nhập, Bắt đầu thi, Nộp bài).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PATCH: Cập nhật một phần (Duyệt câu hỏi, cập nhật vi phạm).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DELETE: Xóa tài nguyên (Xóa đề thi kèm câu hỏi liên quan).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OPTIONS: Preflight check kiểm tra quyền CORS trước khi gửi POST.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Đặc Trưng Kiến Trúc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Stateless (Phi trạng thái): Mỗi request mang đủ thông tin xác thực.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Định dạng JSON: Gọn nhẹ, tiết kiệm băng thông đường truyền mạng.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Mã trạng thái chuẩn: 200 OK, 201 Created, 401 Unauthorized, 403 Forbidden.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Swagger UI tích hợp: Tài liệu hóa trực quan tại đường dẫn /swagger.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Khả năng mở rộng (Scalability): Dễ dàng nâng cấp và bảo trì hệ thống.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10. BẢO MẬT WEB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Thức HTTPS &amp; Cơ Chế Hoạt Động TLS/SSL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Bảo vệ dữ liệu thi cử chống nghe lén và giả mạo trên đường truyền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Quy Trình Bắt Tay TLS (TLS Handshake)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ClientHello: Gửi phiên bản TLS và danh sách mã hóa (Cipher Suites).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ServerHello &amp; Certificate: Server gửi chứng chỉ số chứa Public Key.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Key Exchange: Trao đổi khóa bí mật phiên (Session Key) bất đối xứng.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Mã hóa đối xứng: Toàn bộ dữ liệu sau đó được mã hóa bằng AES-256.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Finished: Xác nhận kết nối bảo mật hoàn tất, bắt đầu gửi dữ liệu.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Tầm Quan Trọng Trong QuizAI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Chống bắt gói tin (Sniffing): Wireshark chỉ thấy dòng dữ liệu mã hóa.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Bảo vệ JWT Token &amp; Pass: Không bị lộ mã xác thực trên mạng Wi-Fi công cộng.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Bảo vệ Gemini API Key: Kênh HTTPS ngăn chặn rò rỉ khóa bí mật.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Toàn vẹn dữ liệu (Integrity): Chống tấn công Man-in-the-Middle sửa đáp án.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Tương thích trình duyệt: Không bị cảnh báo 'Not Secure' màu đỏ.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11. AN NINH MẠNG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Cơ Chế Xác Thực JWT &amp; Chính Sách CORS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Xác thực người dùng phi trạng thái và kiểm soát truy cập nguồn chéo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Xác Thực JWT (JSON Web Token)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Cấu trúc 3 phần: Header . Payload . Signature (HMAC-SHA256).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Stateless Auth: Server không tốn RAM lưu Session hàng trăm học sinh.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Phân quyền linh hoạt: Chứa Claim Vai trò (Admin / Student) trong Payload.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Tự động đính kèm: Axios Interceptor gán Bearer Token vào mọi request.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Tự động đăng xuất: Chuyển hướng về Login khi Token hết hạn (401).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  <a:latin typeface="Segoe UI"/>
              </a:defRPr>
            </a:pPr>
            <a:r>
              <a:t>Chính Sách Mạng CORS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Same-Origin Policy: Trình duyệt mặc định chặn request khác Origin.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Cấu hình linh hoạt: Cho phép domain Vercel và mạng LAN kết nối.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Hỗ trợ Preflight: Phản hồi mã 204 No Content cho các lệnh OPTIONS.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AllowCredentials: Cho phép truyền tải an toàn Token và Cookie.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Bảo mật chặt chẽ: Vẫn kiểm soát toàn diện bằng Middleware JWT.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12. CHỐNG GIAN LẬN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Hệ Thống Chống Gian Lận Đa Tầng (3 Lớp)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Giám sát toàn diện hành vi thi cử, đảm bảo tính công bằng và minh bạch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B91C1C"/>
                </a:solidFill>
                <a:latin typeface="Segoe UI"/>
              </a:defRPr>
            </a:pPr>
            <a:r>
              <a:t>Lớp 1: Bắt Chuyển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Bắt visibilitychange &amp; blur.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Thuật toán Debounce 2.5s.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Chống đếm trùng sự kiện.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Vi phạm 1 &amp; 2: Cảnh báo đỏ.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Vi phạm 3: Tự động nộp bài.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B45309"/>
                </a:solidFill>
                <a:latin typeface="Segoe UI"/>
              </a:defRPr>
            </a:pPr>
            <a:r>
              <a:t>Lớp 2: Chặn Chụp Màn Hình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Chặn phím PrintScreen.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Màn hình chớp đen khi chụp.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Chặn Ctrl+C, Ctrl+V, Ctrl+P.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Chặn F12 &amp; DevTools soi đáp án.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Tắt chuột phải &amp; chống bôi đen.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Lớp 3: Watermark Chống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In chìm Họ tên &amp; Tên đăng nhập.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Phủ chéo toàn bộ màn hình thi.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Chụp điện thoại sẽ lộ danh tính.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Ghi số lần vi phạm vào CSDL.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Giáo viên đối soát trên Excel.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13. LUỒNG DỮ LIỆU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Luồng Dữ Liệu Cốt Lõi Của Hệ Thống (Data Flow)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Các quy trình xử lý chính giữa Client, Server, Database và Gemini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338CA"/>
                </a:solidFill>
                <a:latin typeface="Segoe UI"/>
              </a:defRPr>
            </a:pPr>
            <a:r>
              <a:t>Luồng 1: Xác Thực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1. Gửi POST /auth/login.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2. So khớp BCrypt Hash.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3. Ký số JWT Token.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4. Lưu vào LocalStorage.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5. Phân quyền Admin/User.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Luồng 2: Thi &amp; Chấm Điểm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1. Bắt đầu: Nhận đề thi.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2. Client: Trộn đề &amp; Auto-Save.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3. Giám sát: Đếm chuyển tab.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4. Nộp bài: Gửi danh sách chọn.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5. Chấm điểm &amp; hiện giải thích.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Luồng 3: AI Sinh Đề Thi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1. Giáo viên nhập chủ đề/tài liệu.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2. Backend gửi Prompt tới Gemini.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3. Nhận phản hồi JSON câu hỏi.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4. Giáo viên duyệt &amp; chỉnh sửa.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5. Lưu vào ngân hàng CSDL.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14. THỰC NGHIỆM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Kết Quả Đạt Được &amp; Đo Lường Hiệu Năng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Các chỉ số thực nghiệm đo đạc trong quá trình kiểm thử tải và chạy thực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369A1"/>
                </a:solidFill>
                <a:latin typeface="Segoe UI"/>
              </a:defRPr>
            </a:pPr>
            <a:r>
              <a:t>&lt; 120 ms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Thời gian phản hồi API trung bình qua giao thức HTTP/HTTPS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338CA"/>
                </a:solidFill>
                <a:latin typeface="Segoe UI"/>
              </a:defRPr>
            </a:pPr>
            <a:r>
              <a:t>3 - 5 giây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Gemini AI sinh hoàn chỉnh 10-20 câu hỏi kèm 4 đáp án &amp; giải thích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Segoe UI"/>
              </a:defRPr>
            </a:pPr>
            <a:r>
              <a:t>100%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Bảo toàn dữ liệu bài làm khi rớt mạng Wi-Fi hoặc F5 tải lại trang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45309"/>
                </a:solidFill>
                <a:latin typeface="Segoe UI"/>
              </a:defRPr>
            </a:pPr>
            <a:r>
              <a:t>Chuẩn .XLSX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Xuất bảng điểm Excel tự căn chỉnh độ rộng cột, triệt tiêu lỗi ###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561320" cy="2514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77640"/>
            <a:ext cx="10104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Điểm Nổi Bật Vận Hành Thực Tế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✓ Chạy thực tế trên đám mây Production: https://quiz-ai-system.vercel.app/.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✓ Hỗ trợ thi đồng thời nhiều thiết bị qua mạng LAN và Cloudflare Tunnel an toàn.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✓ Hệ thống chống gian lận 3 lớp tự động ghi nhận số lần vi phạm chính xác vào CSDL.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✓ 100% mã nguồn lưu trữ và kiểm soát phiên bản liên tục trên GitHub.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15. KẾT LUẬN</a:t>
            </a:r>
          </a:p>
          <a:p>
            <a:pPr>
              <a:spcAft>
                <a:spcPts val="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Kết Luận &amp; Hướng Mở Rộng Tương Lai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Đóng góp thực tiễn của đề tài và định hướng nâng cấp trong giai đoạn tiếp theo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Kết Luận Đạt Được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Hoàn thành trọn vẹn kiến trúc mạng Client-Server 3 tầng chuẩn chỉ.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Vận dụng xuất sắc kiến thức: TCP/IP, HTTP/HTTPS, REST, CORS &amp; JWT.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Giải quyết triệt để vấn đề gian lận thi cử và mất bài khi rớt mạng.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Tích hợp thành công GenAI Gemini tạo đề thi thông minh tự động.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Triển khai thành công lên môi trường đám mây Vercel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369A1"/>
                </a:solidFill>
                <a:latin typeface="Segoe UI"/>
              </a:defRPr>
            </a:pPr>
            <a:r>
              <a:t>Hướng Phát Triển Tương 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WebSocket / SignalR: Chế độ thi đấu đối kháng trực tiếp (Kahoot Mode).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AI Camera Proctoring: Nhận diện khuôn mặt &amp; phát hiện quay cóp qua webcam.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Mobile Application: Đóng gói app đa nền tảng Flutter / React Native.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Microservices Architecture: Tách riêng dịch vụ AI Generator và Auth Service.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• Database Clustering: Nhân bản CSDL tăng khả năng chịu tải hàng nghìn thí sinh.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89985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300" b="1">
                <a:solidFill>
                  <a:srgbClr val="4338CA"/>
                </a:solidFill>
                <a:latin typeface="Segoe UI"/>
              </a:defRPr>
            </a:pPr>
            <a:r>
              <a:t>LỜI CẢM ƠN</a:t>
            </a:r>
          </a:p>
          <a:p>
            <a:pPr algn="ctr">
              <a:spcAft>
                <a:spcPts val="18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Cảm Ơn Quý Thầy Cô &amp; Hội Đồng Đã Lắng Nghe!</a:t>
            </a:r>
          </a:p>
          <a:p>
            <a:pPr algn="ctr">
              <a:spcAft>
                <a:spcPts val="2400"/>
              </a:spcAft>
              <a:defRPr sz="1400">
                <a:solidFill>
                  <a:srgbClr val="4338CA"/>
                </a:solidFill>
                <a:latin typeface="Segoe UI"/>
              </a:defRPr>
            </a:pPr>
            <a:r>
              <a:t>Hệ Thống Trực Tuyến: https://quiz-ai-system.vercel.app/</a:t>
            </a:r>
            <a:br/>
            <a:r>
              <a:t>GitHub: https://github.com/hieuqt05/quiz-ai-system</a:t>
            </a:r>
          </a:p>
          <a:p>
            <a:pPr algn="ct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Nhóm xin sẵn sàng lắng nghe nhận xét và trả lời các câu hỏi từ Hội Đồng!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